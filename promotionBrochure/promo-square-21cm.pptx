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7560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7560000"/>
          </a:xfrm>
          <a:prstGeom prst="rect">
            <a:avLst/>
          </a:prstGeom>
          <a:solidFill>
            <a:srgbClr val="0A37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arch_serv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3096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7560000" cy="3096000"/>
          </a:xfrm>
          <a:prstGeom prst="rect">
            <a:avLst/>
          </a:prstGeom>
          <a:solidFill>
            <a:srgbClr val="0A3711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3085200"/>
            <a:ext cx="7560000" cy="108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1120" y="501119"/>
            <a:ext cx="221760" cy="221760"/>
          </a:xfrm>
          <a:prstGeom prst="rect">
            <a:avLst/>
          </a:prstGeom>
          <a:noFill/>
          <a:ln w="126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32720" y="498959"/>
            <a:ext cx="538560" cy="43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432720" y="720720"/>
            <a:ext cx="538560" cy="43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88960" y="342720"/>
            <a:ext cx="4320" cy="5385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810720" y="342720"/>
            <a:ext cx="4320" cy="5385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44000" y="388800"/>
            <a:ext cx="3240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spc="300">
                <a:solidFill>
                  <a:srgbClr val="FFFFFF"/>
                </a:solidFill>
                <a:latin typeface="Malgun Gothic"/>
                <a:ea typeface="Malgun Gothic"/>
              </a:rPr>
              <a:t>PHILIP STUDIO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200" y="604800"/>
            <a:ext cx="3240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50" b="0" spc="150">
                <a:solidFill>
                  <a:srgbClr val="D9B84D"/>
                </a:solidFill>
                <a:latin typeface="Malgun Gothic"/>
                <a:ea typeface="Malgun Gothic"/>
              </a:rPr>
              <a:t>INTERIOR · ARCHITECTURE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44000" y="432000"/>
            <a:ext cx="1512000" cy="288000"/>
          </a:xfrm>
          <a:prstGeom prst="rect">
            <a:avLst/>
          </a:prstGeom>
          <a:noFill/>
          <a:ln w="108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 spc="150">
                <a:solidFill>
                  <a:srgbClr val="D9B84D"/>
                </a:solidFill>
                <a:latin typeface="Malgun Gothic"/>
                <a:ea typeface="Malgun Gothic"/>
              </a:rPr>
              <a:t>용역 · 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3999" y="1206000"/>
            <a:ext cx="6552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1" spc="300">
                <a:solidFill>
                  <a:srgbClr val="D9B84D"/>
                </a:solidFill>
                <a:latin typeface="Malgun Gothic"/>
                <a:ea typeface="Malgun Gothic"/>
              </a:rPr>
              <a:t>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3999" y="1422000"/>
            <a:ext cx="65520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0" spc="50">
                <a:solidFill>
                  <a:srgbClr val="D9E4DA"/>
                </a:solidFill>
                <a:latin typeface="Malgun Gothic"/>
                <a:ea typeface="Malgun Gothic"/>
              </a:rPr>
              <a:t>실내건축 · 인테리어 설계  /  점검 · 검증 · 자문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3999" y="1710000"/>
            <a:ext cx="6552000" cy="8279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</a:rPr>
              <a:t>도면 없이 받은 견적은</a:t>
            </a:r>
          </a:p>
          <a:p>
            <a:pPr algn="l">
              <a:lnSpc>
                <a:spcPct val="118000"/>
              </a:lnSpc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</a:rPr>
              <a:t>애초에 비교할 수 없습니다.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3999" y="2646000"/>
            <a:ext cx="648000" cy="252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0" y="3096000"/>
            <a:ext cx="115200" cy="4464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03999" y="3348000"/>
            <a:ext cx="6552000" cy="61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850" b="0">
                <a:solidFill>
                  <a:srgbClr val="D9E4DA"/>
                </a:solidFill>
                <a:latin typeface="Malgun Gothic"/>
                <a:ea typeface="Malgun Gothic"/>
              </a:rPr>
              <a:t>물류센터 실시설계부터 병원 인테리어까지 수행한 건축 실무자가 실측 · 도면 · 모델링 · 견적설계를 직접 진행합니다. 모든 견적은 범위 확정 후 고정가로 제시하며, 선금 50% · 검수 후 잔금이 원칙입니다.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3999" y="3978000"/>
            <a:ext cx="2160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50" b="1" spc="200">
                <a:solidFill>
                  <a:srgbClr val="D9B84D"/>
                </a:solidFill>
                <a:latin typeface="Malgun Gothic"/>
                <a:ea typeface="Malgun Gothic"/>
              </a:rPr>
              <a:t>SERVICE MENU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55999" y="4046400"/>
            <a:ext cx="5400000" cy="72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503999" y="4212000"/>
            <a:ext cx="3204000" cy="1260000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03999" y="4212000"/>
            <a:ext cx="25200" cy="1260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02000" y="4363200"/>
            <a:ext cx="3240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C9A227"/>
                </a:solidFill>
                <a:latin typeface="Malgun Gothic"/>
                <a:ea typeface="Malgun Gothic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7999" y="4381200"/>
            <a:ext cx="2502000" cy="1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50" b="1" spc="100">
                <a:solidFill>
                  <a:srgbClr val="D9B84D"/>
                </a:solidFill>
                <a:latin typeface="Malgun Gothic"/>
                <a:ea typeface="Malgun Gothic"/>
              </a:rPr>
              <a:t>PACKAGE 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2000" y="4553999"/>
            <a:ext cx="2808000" cy="19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</a:rPr>
              <a:t>실측 + 도면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2000" y="4752000"/>
            <a:ext cx="2808000" cy="37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8000"/>
              </a:lnSpc>
            </a:pPr>
            <a:r>
              <a:rPr sz="700" b="0">
                <a:solidFill>
                  <a:srgbClr val="B7C9B9"/>
                </a:solidFill>
                <a:latin typeface="Malgun Gothic"/>
                <a:ea typeface="Malgun Gothic"/>
              </a:rPr>
              <a:t>현장 실측(반나절)과 CAD 도면 납품. 원본 파일을 드리므로 치수 기준으로 시공사 견적을 비교할 수 있습니다.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2000" y="5191200"/>
            <a:ext cx="2808000" cy="7200"/>
          </a:xfrm>
          <a:prstGeom prst="rect">
            <a:avLst/>
          </a:prstGeom>
          <a:solidFill>
            <a:srgbClr val="1C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02000" y="5227200"/>
            <a:ext cx="28080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50" b="1">
                <a:solidFill>
                  <a:srgbClr val="D9B84D"/>
                </a:solidFill>
                <a:latin typeface="Malgun Gothic"/>
                <a:ea typeface="Malgun Gothic"/>
              </a:rPr>
              <a:t>45만원~  /  30평 이하 기준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52000" y="4212000"/>
            <a:ext cx="3204000" cy="1260000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852000" y="4212000"/>
            <a:ext cx="25200" cy="1260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050000" y="4363200"/>
            <a:ext cx="3240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C9A227"/>
                </a:solidFill>
                <a:latin typeface="Malgun Gothic"/>
                <a:ea typeface="Malgun Gothic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56000" y="4381200"/>
            <a:ext cx="2502000" cy="1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50" b="1" spc="100">
                <a:solidFill>
                  <a:srgbClr val="D9B84D"/>
                </a:solidFill>
                <a:latin typeface="Malgun Gothic"/>
                <a:ea typeface="Malgun Gothic"/>
              </a:rPr>
              <a:t>PACKAGE B · 추천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50000" y="4553999"/>
            <a:ext cx="2808000" cy="19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</a:rPr>
              <a:t>실측 + 도면 + 모델링 + 컨셉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50000" y="4752000"/>
            <a:ext cx="2808000" cy="37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8000"/>
              </a:lnSpc>
            </a:pPr>
            <a:r>
              <a:rPr sz="700" b="0">
                <a:solidFill>
                  <a:srgbClr val="B7C9B9"/>
                </a:solidFill>
                <a:latin typeface="Malgun Gothic"/>
                <a:ea typeface="Malgun Gothic"/>
              </a:rPr>
              <a:t>PACKAGE A 전체에 3D 모델링과 디자인 컨셉, 자재 · 무드 방향 제시를 더합니다. 수정 2회.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050000" y="5191200"/>
            <a:ext cx="2808000" cy="7200"/>
          </a:xfrm>
          <a:prstGeom prst="rect">
            <a:avLst/>
          </a:prstGeom>
          <a:solidFill>
            <a:srgbClr val="1C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050000" y="5227200"/>
            <a:ext cx="28080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50" b="1">
                <a:solidFill>
                  <a:srgbClr val="D9B84D"/>
                </a:solidFill>
                <a:latin typeface="Malgun Gothic"/>
                <a:ea typeface="Malgun Gothic"/>
              </a:rPr>
              <a:t>140만원~  /  규모별 견적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3999" y="5616000"/>
            <a:ext cx="3204000" cy="1260000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503999" y="5616000"/>
            <a:ext cx="25200" cy="1260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02000" y="5767200"/>
            <a:ext cx="3240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C9A227"/>
                </a:solidFill>
                <a:latin typeface="Malgun Gothic"/>
                <a:ea typeface="Malgun Gothic"/>
              </a:rPr>
              <a:t>03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7999" y="5785200"/>
            <a:ext cx="2502000" cy="1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50" b="1" spc="100">
                <a:solidFill>
                  <a:srgbClr val="D9B84D"/>
                </a:solidFill>
                <a:latin typeface="Malgun Gothic"/>
                <a:ea typeface="Malgun Gothic"/>
              </a:rPr>
              <a:t>PACKAGE 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2000" y="5958000"/>
            <a:ext cx="2808000" cy="19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</a:rPr>
              <a:t>풀 패키지 (실시도면 + 견적설계)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2000" y="6156000"/>
            <a:ext cx="2808000" cy="37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8000"/>
              </a:lnSpc>
            </a:pPr>
            <a:r>
              <a:rPr sz="700" b="0">
                <a:solidFill>
                  <a:srgbClr val="B7C9B9"/>
                </a:solidFill>
                <a:latin typeface="Malgun Gothic"/>
                <a:ea typeface="Malgun Gothic"/>
              </a:rPr>
              <a:t>실시도면 작성과 물량 산출 기준의 견적설계, 시공사 견적 검증 지원까지. 시공 발주까지 가는 프로젝트용.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02000" y="6595200"/>
            <a:ext cx="2808000" cy="7200"/>
          </a:xfrm>
          <a:prstGeom prst="rect">
            <a:avLst/>
          </a:prstGeom>
          <a:solidFill>
            <a:srgbClr val="1C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02000" y="6631199"/>
            <a:ext cx="28080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50" b="1">
                <a:solidFill>
                  <a:srgbClr val="D9B84D"/>
                </a:solidFill>
                <a:latin typeface="Malgun Gothic"/>
                <a:ea typeface="Malgun Gothic"/>
              </a:rPr>
              <a:t>350만원~  /  규모별 견적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52000" y="5616000"/>
            <a:ext cx="3204000" cy="1260000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3852000" y="5616000"/>
            <a:ext cx="25200" cy="1260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4050000" y="5767200"/>
            <a:ext cx="3240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C9A227"/>
                </a:solidFill>
                <a:latin typeface="Malgun Gothic"/>
                <a:ea typeface="Malgun Gothic"/>
              </a:rPr>
              <a:t>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56000" y="5785200"/>
            <a:ext cx="2502000" cy="1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50" b="1" spc="100">
                <a:solidFill>
                  <a:srgbClr val="D9B84D"/>
                </a:solidFill>
                <a:latin typeface="Malgun Gothic"/>
                <a:ea typeface="Malgun Gothic"/>
              </a:rPr>
              <a:t>SERVICE 02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50000" y="5958000"/>
            <a:ext cx="2808000" cy="19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</a:rPr>
              <a:t>점검 · 검증 · 연간 자문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50000" y="6156000"/>
            <a:ext cx="2808000" cy="37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8000"/>
              </a:lnSpc>
            </a:pPr>
            <a:r>
              <a:rPr sz="700" b="0">
                <a:solidFill>
                  <a:srgbClr val="B7C9B9"/>
                </a:solidFill>
                <a:latin typeface="Malgun Gothic"/>
                <a:ea typeface="Malgun Gothic"/>
              </a:rPr>
              <a:t>육안 상태점검 · 하자 진단 출장, 시공사 견적서 검증, 건물주 · 임대인 연간 시설관리 자문.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050000" y="6595200"/>
            <a:ext cx="2808000" cy="7200"/>
          </a:xfrm>
          <a:prstGeom prst="rect">
            <a:avLst/>
          </a:prstGeom>
          <a:solidFill>
            <a:srgbClr val="1C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4050000" y="6631199"/>
            <a:ext cx="28080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50" b="1">
                <a:solidFill>
                  <a:srgbClr val="D9B84D"/>
                </a:solidFill>
                <a:latin typeface="Malgun Gothic"/>
                <a:ea typeface="Malgun Gothic"/>
              </a:rPr>
              <a:t>회당 30만원~  /  연 계약 시 할인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3999" y="7037999"/>
            <a:ext cx="6552000" cy="72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503999" y="7091999"/>
            <a:ext cx="4140000" cy="1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Malgun Gothic"/>
                <a:ea typeface="Malgun Gothic"/>
              </a:rPr>
              <a:t>010.5682.6129  ·  spinnavor@naver.com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44000" y="7091999"/>
            <a:ext cx="2412000" cy="1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750" b="1">
                <a:solidFill>
                  <a:srgbClr val="D9B84D"/>
                </a:solidFill>
                <a:latin typeface="Malgun Gothic"/>
                <a:ea typeface="Malgun Gothic"/>
              </a:rPr>
              <a:t>philip-studio.cloud/architecture-studio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3999" y="7261199"/>
            <a:ext cx="6552000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550" b="0">
                <a:solidFill>
                  <a:srgbClr val="B7C9B9"/>
                </a:solidFill>
                <a:latin typeface="Malgun Gothic"/>
                <a:ea typeface="Malgun Gothic"/>
              </a:rPr>
              <a:t>본 서비스는 실내건축 디자인 및 설계도서 작성 용역입니다. 「건축법」에 따른 허가 · 신고 대상 건축물의 설계와 공사감리는 건축사의 업무로 본 서비스에 포함되지 않으며, 육안 점검은 「건축물관리법」상 법정 정기점검을 대체하지 않습니다.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756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arch_cou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3096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7560000" cy="3096000"/>
          </a:xfrm>
          <a:prstGeom prst="rect">
            <a:avLst/>
          </a:prstGeom>
          <a:solidFill>
            <a:srgbClr val="0A3711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91120" y="501119"/>
            <a:ext cx="221760" cy="221760"/>
          </a:xfrm>
          <a:prstGeom prst="rect">
            <a:avLst/>
          </a:prstGeom>
          <a:noFill/>
          <a:ln w="126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432720" y="498959"/>
            <a:ext cx="538560" cy="43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32720" y="720720"/>
            <a:ext cx="538560" cy="43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8960" y="342720"/>
            <a:ext cx="4320" cy="5385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810720" y="342720"/>
            <a:ext cx="4320" cy="5385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44000" y="388800"/>
            <a:ext cx="3240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spc="300">
                <a:solidFill>
                  <a:srgbClr val="FFFFFF"/>
                </a:solidFill>
                <a:latin typeface="Malgun Gothic"/>
                <a:ea typeface="Malgun Gothic"/>
              </a:rPr>
              <a:t>PHILIP STUDIO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200" y="604800"/>
            <a:ext cx="3240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50" b="0" spc="150">
                <a:solidFill>
                  <a:srgbClr val="D9B84D"/>
                </a:solidFill>
                <a:latin typeface="Malgun Gothic"/>
                <a:ea typeface="Malgun Gothic"/>
              </a:rPr>
              <a:t>INTERIOR · ARCHITECTURE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44000" y="432000"/>
            <a:ext cx="1512000" cy="288000"/>
          </a:xfrm>
          <a:prstGeom prst="rect">
            <a:avLst/>
          </a:prstGeom>
          <a:noFill/>
          <a:ln w="108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 spc="150">
                <a:solidFill>
                  <a:srgbClr val="D9B84D"/>
                </a:solidFill>
                <a:latin typeface="Malgun Gothic"/>
                <a:ea typeface="Malgun Gothic"/>
              </a:rPr>
              <a:t>교육 · COURSE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3999" y="1206000"/>
            <a:ext cx="6552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1" spc="300">
                <a:solidFill>
                  <a:srgbClr val="D9B84D"/>
                </a:solidFill>
                <a:latin typeface="Malgun Gothic"/>
                <a:ea typeface="Malgun Gothic"/>
              </a:rPr>
              <a:t>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3999" y="1422000"/>
            <a:ext cx="65520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0" spc="50">
                <a:solidFill>
                  <a:srgbClr val="D9E4DA"/>
                </a:solidFill>
                <a:latin typeface="Malgun Gothic"/>
                <a:ea typeface="Malgun Gothic"/>
              </a:rPr>
              <a:t>공간 · 건축 강의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3999" y="1710000"/>
            <a:ext cx="6552000" cy="8279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</a:rPr>
              <a:t>대신 판단해 드리는 것이 아니라,</a:t>
            </a:r>
          </a:p>
          <a:p>
            <a:pPr algn="l">
              <a:lnSpc>
                <a:spcPct val="118000"/>
              </a:lnSpc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</a:rPr>
              <a:t>판단의 기준을 옮겨 드립니다.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3999" y="2646000"/>
            <a:ext cx="648000" cy="252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0" y="3096000"/>
            <a:ext cx="115200" cy="4464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03999" y="3348000"/>
            <a:ext cx="6552000" cy="61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850" b="0">
                <a:solidFill>
                  <a:srgbClr val="5C675E"/>
                </a:solidFill>
                <a:latin typeface="Malgun Gothic"/>
                <a:ea typeface="Malgun Gothic"/>
              </a:rPr>
              <a:t>공간 · 건축 강의는 설계 외주와 분리해 운영하는 별도의 교육 서비스입니다. 결과물은 도면이 아니라 판단력입니다. 기본은 오프라인 1:1 대면 세션이며 회당 2시간, 전 과정에 현장 점검 체크리스트와 실적용 직제작 비법노트를 교재로 드립니다.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3999" y="3978000"/>
            <a:ext cx="2160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50" b="1" spc="200">
                <a:solidFill>
                  <a:srgbClr val="8F7118"/>
                </a:solidFill>
                <a:latin typeface="Malgun Gothic"/>
                <a:ea typeface="Malgun Gothic"/>
              </a:rPr>
              <a:t>COURSE MENU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55999" y="4046400"/>
            <a:ext cx="5400000" cy="7200"/>
          </a:xfrm>
          <a:prstGeom prst="rect">
            <a:avLst/>
          </a:prstGeom>
          <a:solidFill>
            <a:srgbClr val="E3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503999" y="4212000"/>
            <a:ext cx="3204000" cy="1260000"/>
          </a:xfrm>
          <a:prstGeom prst="rect">
            <a:avLst/>
          </a:prstGeom>
          <a:solidFill>
            <a:srgbClr val="F5F8F4"/>
          </a:solidFill>
          <a:ln w="9000">
            <a:solidFill>
              <a:srgbClr val="E3E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503999" y="4212000"/>
            <a:ext cx="3204000" cy="25200"/>
          </a:xfrm>
          <a:prstGeom prst="rect">
            <a:avLst/>
          </a:prstGeom>
          <a:solidFill>
            <a:srgbClr val="0A37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02000" y="4363200"/>
            <a:ext cx="3240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8F7118"/>
                </a:solidFill>
                <a:latin typeface="Malgun Gothic"/>
                <a:ea typeface="Malgun Gothic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7999" y="4381200"/>
            <a:ext cx="2502000" cy="1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50" b="1" spc="100">
                <a:solidFill>
                  <a:srgbClr val="8F7118"/>
                </a:solidFill>
                <a:latin typeface="Malgun Gothic"/>
                <a:ea typeface="Malgun Gothic"/>
              </a:rPr>
              <a:t>LEVEL 01 · 입문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2000" y="4553999"/>
            <a:ext cx="2808000" cy="19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>
                <a:solidFill>
                  <a:srgbClr val="0A3711"/>
                </a:solidFill>
                <a:latin typeface="Malgun Gothic"/>
                <a:ea typeface="Malgun Gothic"/>
              </a:rPr>
              <a:t>기초 스케치업 / 웹툴 강의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2000" y="4752000"/>
            <a:ext cx="2808000" cy="37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8000"/>
              </a:lnSpc>
            </a:pPr>
            <a:r>
              <a:rPr sz="700" b="0">
                <a:solidFill>
                  <a:srgbClr val="5C675E"/>
                </a:solidFill>
                <a:latin typeface="Malgun Gothic"/>
                <a:ea typeface="Malgun Gothic"/>
              </a:rPr>
              <a:t>내 공간을 직접 세워 보고, 가구를 놓아 보고, 동선을 눈으로 확인합니다. 설치 없이 쓰는 무료 웹툴 활용법 포함.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2000" y="5191200"/>
            <a:ext cx="2808000" cy="7200"/>
          </a:xfrm>
          <a:prstGeom prst="rect">
            <a:avLst/>
          </a:prstGeom>
          <a:solidFill>
            <a:srgbClr val="E3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02000" y="5227200"/>
            <a:ext cx="28080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50" b="1">
                <a:solidFill>
                  <a:srgbClr val="0A3711"/>
                </a:solidFill>
                <a:latin typeface="Malgun Gothic"/>
                <a:ea typeface="Malgun Gothic"/>
              </a:rPr>
              <a:t>회당(2h) 15만원  ·  4회 패키지 59만원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52000" y="4212000"/>
            <a:ext cx="3204000" cy="1260000"/>
          </a:xfrm>
          <a:prstGeom prst="rect">
            <a:avLst/>
          </a:prstGeom>
          <a:solidFill>
            <a:srgbClr val="F5F8F4"/>
          </a:solidFill>
          <a:ln w="9000">
            <a:solidFill>
              <a:srgbClr val="E3E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3852000" y="4212000"/>
            <a:ext cx="3204000" cy="25200"/>
          </a:xfrm>
          <a:prstGeom prst="rect">
            <a:avLst/>
          </a:prstGeom>
          <a:solidFill>
            <a:srgbClr val="0A37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050000" y="4363200"/>
            <a:ext cx="3240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8F7118"/>
                </a:solidFill>
                <a:latin typeface="Malgun Gothic"/>
                <a:ea typeface="Malgun Gothic"/>
              </a:rPr>
              <a:t>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56000" y="4381200"/>
            <a:ext cx="2502000" cy="1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50" b="1" spc="100">
                <a:solidFill>
                  <a:srgbClr val="8F7118"/>
                </a:solidFill>
                <a:latin typeface="Malgun Gothic"/>
                <a:ea typeface="Malgun Gothic"/>
              </a:rPr>
              <a:t>LEVEL 02 · 실무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50000" y="4553999"/>
            <a:ext cx="2808000" cy="19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>
                <a:solidFill>
                  <a:srgbClr val="0A3711"/>
                </a:solidFill>
                <a:latin typeface="Malgun Gothic"/>
                <a:ea typeface="Malgun Gothic"/>
              </a:rPr>
              <a:t>도면 읽고쓰기 기초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50000" y="4752000"/>
            <a:ext cx="2808000" cy="37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8000"/>
              </a:lnSpc>
            </a:pPr>
            <a:r>
              <a:rPr sz="700" b="0">
                <a:solidFill>
                  <a:srgbClr val="5C675E"/>
                </a:solidFill>
                <a:latin typeface="Malgun Gothic"/>
                <a:ea typeface="Malgun Gothic"/>
              </a:rPr>
              <a:t>평면도 · 입면도 · 상세도를 읽는 법과, 원하는 바를 도면의 언어로 시공사에 전달하는 법을 다룹니다.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50000" y="5191200"/>
            <a:ext cx="2808000" cy="7200"/>
          </a:xfrm>
          <a:prstGeom prst="rect">
            <a:avLst/>
          </a:prstGeom>
          <a:solidFill>
            <a:srgbClr val="E3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4050000" y="5227200"/>
            <a:ext cx="28080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50" b="1">
                <a:solidFill>
                  <a:srgbClr val="0A3711"/>
                </a:solidFill>
                <a:latin typeface="Malgun Gothic"/>
                <a:ea typeface="Malgun Gothic"/>
              </a:rPr>
              <a:t>회당(2h) 15만원  ·  4회 패키지 59만원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3999" y="5616000"/>
            <a:ext cx="3204000" cy="1260000"/>
          </a:xfrm>
          <a:prstGeom prst="rect">
            <a:avLst/>
          </a:prstGeom>
          <a:solidFill>
            <a:srgbClr val="F5F8F4"/>
          </a:solidFill>
          <a:ln w="9000">
            <a:solidFill>
              <a:srgbClr val="E3E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503999" y="5616000"/>
            <a:ext cx="3204000" cy="25200"/>
          </a:xfrm>
          <a:prstGeom prst="rect">
            <a:avLst/>
          </a:prstGeom>
          <a:solidFill>
            <a:srgbClr val="0A37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02000" y="5767200"/>
            <a:ext cx="3240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8F7118"/>
                </a:solidFill>
                <a:latin typeface="Malgun Gothic"/>
                <a:ea typeface="Malgun Gothic"/>
              </a:rPr>
              <a:t>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7999" y="5785200"/>
            <a:ext cx="2502000" cy="1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50" b="1" spc="100">
                <a:solidFill>
                  <a:srgbClr val="8F7118"/>
                </a:solidFill>
                <a:latin typeface="Malgun Gothic"/>
                <a:ea typeface="Malgun Gothic"/>
              </a:rPr>
              <a:t>LEVEL 03 · 방어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2000" y="5958000"/>
            <a:ext cx="2808000" cy="19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>
                <a:solidFill>
                  <a:srgbClr val="0A3711"/>
                </a:solidFill>
                <a:latin typeface="Malgun Gothic"/>
                <a:ea typeface="Malgun Gothic"/>
              </a:rPr>
              <a:t>시공관리 포인트 집중세션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2000" y="6156000"/>
            <a:ext cx="2808000" cy="37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8000"/>
              </a:lnSpc>
            </a:pPr>
            <a:r>
              <a:rPr sz="700" b="0">
                <a:solidFill>
                  <a:srgbClr val="5C675E"/>
                </a:solidFill>
                <a:latin typeface="Malgun Gothic"/>
                <a:ea typeface="Malgun Gothic"/>
              </a:rPr>
              <a:t>구조의 이상징후를 알아보는 눈과 주요 하자부위 체크 요령. 어떤 말이 나오면 멈춰야 하는지를 다룹니다.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02000" y="6595200"/>
            <a:ext cx="2808000" cy="7200"/>
          </a:xfrm>
          <a:prstGeom prst="rect">
            <a:avLst/>
          </a:prstGeom>
          <a:solidFill>
            <a:srgbClr val="E3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02000" y="6631199"/>
            <a:ext cx="28080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50" b="1">
                <a:solidFill>
                  <a:srgbClr val="0A3711"/>
                </a:solidFill>
                <a:latin typeface="Malgun Gothic"/>
                <a:ea typeface="Malgun Gothic"/>
              </a:rPr>
              <a:t>회당(2h) 15만원  ·  현장 동행 시 출장비 별도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52000" y="5616000"/>
            <a:ext cx="3204000" cy="1260000"/>
          </a:xfrm>
          <a:prstGeom prst="rect">
            <a:avLst/>
          </a:prstGeom>
          <a:solidFill>
            <a:srgbClr val="F5F8F4"/>
          </a:solidFill>
          <a:ln w="9000">
            <a:solidFill>
              <a:srgbClr val="E3E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3852000" y="5616000"/>
            <a:ext cx="3204000" cy="25200"/>
          </a:xfrm>
          <a:prstGeom prst="rect">
            <a:avLst/>
          </a:prstGeom>
          <a:solidFill>
            <a:srgbClr val="0A37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4050000" y="5767200"/>
            <a:ext cx="3240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8F7118"/>
                </a:solidFill>
                <a:latin typeface="Malgun Gothic"/>
                <a:ea typeface="Malgun Gothic"/>
              </a:rPr>
              <a:t>04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56000" y="5785200"/>
            <a:ext cx="2502000" cy="1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50" b="1" spc="100">
                <a:solidFill>
                  <a:srgbClr val="8F7118"/>
                </a:solidFill>
                <a:latin typeface="Malgun Gothic"/>
                <a:ea typeface="Malgun Gothic"/>
              </a:rPr>
              <a:t>LEVEL 04 · 코칭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50000" y="5958000"/>
            <a:ext cx="2808000" cy="19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>
                <a:solidFill>
                  <a:srgbClr val="0A3711"/>
                </a:solidFill>
                <a:latin typeface="Malgun Gothic"/>
                <a:ea typeface="Malgun Gothic"/>
              </a:rPr>
              <a:t>셀프 시공 코칭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50000" y="6156000"/>
            <a:ext cx="2808000" cy="37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8000"/>
              </a:lnSpc>
            </a:pPr>
            <a:r>
              <a:rPr sz="700" b="0">
                <a:solidFill>
                  <a:srgbClr val="5C675E"/>
                </a:solidFill>
                <a:latin typeface="Malgun Gothic"/>
                <a:ea typeface="Malgun Gothic"/>
              </a:rPr>
              <a:t>직접 할 범위와 맡길 범위를 함께 정하고 단계별로 점검합니다. 현재 상황을 진단한 뒤 커리큘럼을 설계합니다.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050000" y="6595200"/>
            <a:ext cx="2808000" cy="7200"/>
          </a:xfrm>
          <a:prstGeom prst="rect">
            <a:avLst/>
          </a:prstGeom>
          <a:solidFill>
            <a:srgbClr val="E3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4050000" y="6631199"/>
            <a:ext cx="28080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50" b="1">
                <a:solidFill>
                  <a:srgbClr val="0A3711"/>
                </a:solidFill>
                <a:latin typeface="Malgun Gothic"/>
                <a:ea typeface="Malgun Gothic"/>
              </a:rPr>
              <a:t>진단 후 견적  ·  현장 동행 시 출장비 별도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3999" y="7037999"/>
            <a:ext cx="6552000" cy="7200"/>
          </a:xfrm>
          <a:prstGeom prst="rect">
            <a:avLst/>
          </a:prstGeom>
          <a:solidFill>
            <a:srgbClr val="E3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503999" y="7091999"/>
            <a:ext cx="4140000" cy="1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50" b="1">
                <a:solidFill>
                  <a:srgbClr val="0A3711"/>
                </a:solidFill>
                <a:latin typeface="Malgun Gothic"/>
                <a:ea typeface="Malgun Gothic"/>
              </a:rPr>
              <a:t>010.5682.6129  ·  spinnavor@naver.com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44000" y="7091999"/>
            <a:ext cx="2412000" cy="1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750" b="1">
                <a:solidFill>
                  <a:srgbClr val="8F7118"/>
                </a:solidFill>
                <a:latin typeface="Malgun Gothic"/>
                <a:ea typeface="Malgun Gothic"/>
              </a:rPr>
              <a:t>philip-studio.cloud/architecture-studio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3999" y="7261199"/>
            <a:ext cx="6552000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550" b="0">
                <a:solidFill>
                  <a:srgbClr val="5C675E"/>
                </a:solidFill>
                <a:latin typeface="Malgun Gothic"/>
                <a:ea typeface="Malgun Gothic"/>
              </a:rPr>
              <a:t>강의는 판단의 기준을 익히는 교육입니다. 시공을 대행하지 않고, 자재나 인력을 대신 발주하지 않으며, 시공사에 대한 지시도 하지 않습니다. 현장 동행은 함께 보며 설명하는 자리이지 감리가 아닙니다.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7560000"/>
          </a:xfrm>
          <a:prstGeom prst="rect">
            <a:avLst/>
          </a:prstGeom>
          <a:solidFill>
            <a:srgbClr val="023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it_serv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3096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7560000" cy="3096000"/>
          </a:xfrm>
          <a:prstGeom prst="rect">
            <a:avLst/>
          </a:prstGeom>
          <a:solidFill>
            <a:srgbClr val="023373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3085200"/>
            <a:ext cx="7560000" cy="10800"/>
          </a:xfrm>
          <a:prstGeom prst="rect">
            <a:avLst/>
          </a:prstGeom>
          <a:solidFill>
            <a:srgbClr val="6DA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503999" y="413999"/>
            <a:ext cx="396000" cy="396000"/>
          </a:xfrm>
          <a:prstGeom prst="ellipse">
            <a:avLst/>
          </a:prstGeom>
          <a:noFill/>
          <a:ln w="126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hord 6"/>
          <p:cNvSpPr/>
          <p:nvPr/>
        </p:nvSpPr>
        <p:spPr>
          <a:xfrm>
            <a:off x="559439" y="532800"/>
            <a:ext cx="285120" cy="285120"/>
          </a:xfrm>
          <a:prstGeom prst="chord">
            <a:avLst>
              <a:gd name="adj1" fmla="val 10800000"/>
              <a:gd name="adj2" fmla="val 0"/>
            </a:avLst>
          </a:prstGeom>
          <a:solidFill>
            <a:srgbClr val="6DA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ord 7"/>
          <p:cNvSpPr/>
          <p:nvPr/>
        </p:nvSpPr>
        <p:spPr>
          <a:xfrm>
            <a:off x="606960" y="580320"/>
            <a:ext cx="190080" cy="190080"/>
          </a:xfrm>
          <a:prstGeom prst="chord">
            <a:avLst>
              <a:gd name="adj1" fmla="val 10800000"/>
              <a:gd name="adj2" fmla="val 0"/>
            </a:avLst>
          </a:prstGeom>
          <a:solidFill>
            <a:srgbClr val="A0C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ord 8"/>
          <p:cNvSpPr/>
          <p:nvPr/>
        </p:nvSpPr>
        <p:spPr>
          <a:xfrm>
            <a:off x="654480" y="627839"/>
            <a:ext cx="95040" cy="95040"/>
          </a:xfrm>
          <a:prstGeom prst="chord">
            <a:avLst>
              <a:gd name="adj1" fmla="val 10800000"/>
              <a:gd name="adj2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3599" y="675360"/>
            <a:ext cx="316800" cy="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44000" y="388800"/>
            <a:ext cx="3240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spc="300">
                <a:solidFill>
                  <a:srgbClr val="FFFFFF"/>
                </a:solidFill>
                <a:latin typeface="Malgun Gothic"/>
                <a:ea typeface="Malgun Gothic"/>
              </a:rPr>
              <a:t>PHILIP STUDIO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200" y="604800"/>
            <a:ext cx="3240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50" b="0" spc="150">
                <a:solidFill>
                  <a:srgbClr val="A0C4F2"/>
                </a:solidFill>
                <a:latin typeface="Malgun Gothic"/>
                <a:ea typeface="Malgun Gothic"/>
              </a:rPr>
              <a:t>WEB · APP · AI ENGINEERING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44000" y="432000"/>
            <a:ext cx="1512000" cy="288000"/>
          </a:xfrm>
          <a:prstGeom prst="roundRect">
            <a:avLst>
              <a:gd name="adj" fmla="val 50000"/>
            </a:avLst>
          </a:prstGeom>
          <a:solidFill>
            <a:srgbClr val="6DA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 spc="150">
                <a:solidFill>
                  <a:srgbClr val="023373"/>
                </a:solidFill>
                <a:latin typeface="Malgun Gothic"/>
                <a:ea typeface="Malgun Gothic"/>
              </a:rPr>
              <a:t>용역 · 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3999" y="1206000"/>
            <a:ext cx="6552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1" spc="300">
                <a:solidFill>
                  <a:srgbClr val="A0C4F2"/>
                </a:solidFill>
                <a:latin typeface="Malgun Gothic"/>
                <a:ea typeface="Malgun Gothic"/>
              </a:rPr>
              <a:t>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3999" y="1422000"/>
            <a:ext cx="65520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0" spc="50">
                <a:solidFill>
                  <a:srgbClr val="D7E4F5"/>
                </a:solidFill>
                <a:latin typeface="Malgun Gothic"/>
                <a:ea typeface="Malgun Gothic"/>
              </a:rPr>
              <a:t>웹 · 앱 개발  /  기업 AI 도입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3999" y="1710000"/>
            <a:ext cx="6552000" cy="8279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</a:rPr>
              <a:t>만드는 사람과</a:t>
            </a:r>
          </a:p>
          <a:p>
            <a:pPr algn="l">
              <a:lnSpc>
                <a:spcPct val="118000"/>
              </a:lnSpc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</a:rPr>
              <a:t>운영하는 사람이 같습니다.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3999" y="2646000"/>
            <a:ext cx="648000" cy="25200"/>
          </a:xfrm>
          <a:prstGeom prst="rect">
            <a:avLst/>
          </a:prstGeom>
          <a:solidFill>
            <a:srgbClr val="6DA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0" y="3096000"/>
            <a:ext cx="115200" cy="4464000"/>
          </a:xfrm>
          <a:prstGeom prst="rect">
            <a:avLst/>
          </a:prstGeom>
          <a:solidFill>
            <a:srgbClr val="6DA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03999" y="3348000"/>
            <a:ext cx="6552000" cy="61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850" b="0">
                <a:solidFill>
                  <a:srgbClr val="D7E4F5"/>
                </a:solidFill>
                <a:latin typeface="Malgun Gothic"/>
                <a:ea typeface="Malgun Gothic"/>
              </a:rPr>
              <a:t>400억 규모 투자유치 AI 스타트업의 현직 풀스택 엔지니어가 웹 · 앱 개발과 기업 AI 도입을 직접 수행합니다. 요구사항 정리서로 범위를 확정한 뒤 고정가로 만들고, 배포 후 30일간 버그를 무상으로 수정합니다.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3999" y="3978000"/>
            <a:ext cx="2160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50" b="1" spc="200">
                <a:solidFill>
                  <a:srgbClr val="A0C4F2"/>
                </a:solidFill>
                <a:latin typeface="Malgun Gothic"/>
                <a:ea typeface="Malgun Gothic"/>
              </a:rPr>
              <a:t>SERVICE MENU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55999" y="4046400"/>
            <a:ext cx="5400000" cy="7200"/>
          </a:xfrm>
          <a:prstGeom prst="rect">
            <a:avLst/>
          </a:prstGeom>
          <a:solidFill>
            <a:srgbClr val="6DA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503999" y="4212000"/>
            <a:ext cx="3204000" cy="126000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503999" y="4212000"/>
            <a:ext cx="3204000" cy="1260000"/>
          </a:xfrm>
          <a:prstGeom prst="roundRect">
            <a:avLst>
              <a:gd name="adj" fmla="val 8000"/>
            </a:avLst>
          </a:prstGeom>
          <a:noFill/>
          <a:ln w="9000">
            <a:solidFill>
              <a:srgbClr val="035A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02000" y="4363200"/>
            <a:ext cx="3240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6DA7F2"/>
                </a:solidFill>
                <a:latin typeface="Malgun Gothic"/>
                <a:ea typeface="Malgun Gothic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7999" y="4381200"/>
            <a:ext cx="2502000" cy="1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50" b="1" spc="100">
                <a:solidFill>
                  <a:srgbClr val="A0C4F2"/>
                </a:solidFill>
                <a:latin typeface="Malgun Gothic"/>
                <a:ea typeface="Malgun Gothic"/>
              </a:rPr>
              <a:t>STANDARD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2000" y="4553999"/>
            <a:ext cx="2808000" cy="19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</a:rPr>
              <a:t>정적 홍보 · 랜딩 페이지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2000" y="4752000"/>
            <a:ext cx="2808000" cy="37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8000"/>
              </a:lnSpc>
            </a:pPr>
            <a:r>
              <a:rPr sz="700" b="0">
                <a:solidFill>
                  <a:srgbClr val="A9C0DE"/>
                </a:solidFill>
                <a:latin typeface="Malgun Gothic"/>
                <a:ea typeface="Malgun Gothic"/>
              </a:rPr>
              <a:t>단일 페이지 반응형 제작, 기본 SEO 메타 세팅, 소스코드 제공, 수정 2회 포함. 매장 · 포트폴리오 · 행사 소개에 적합.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2000" y="5191200"/>
            <a:ext cx="2808000" cy="7200"/>
          </a:xfrm>
          <a:prstGeom prst="rect">
            <a:avLst/>
          </a:prstGeom>
          <a:solidFill>
            <a:srgbClr val="035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02000" y="5227200"/>
            <a:ext cx="28080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50" b="1">
                <a:solidFill>
                  <a:srgbClr val="A0C4F2"/>
                </a:solidFill>
                <a:latin typeface="Malgun Gothic"/>
                <a:ea typeface="Malgun Gothic"/>
              </a:rPr>
              <a:t>90만원~  /  작업 7일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52000" y="4212000"/>
            <a:ext cx="3204000" cy="126000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3852000" y="4212000"/>
            <a:ext cx="3204000" cy="1260000"/>
          </a:xfrm>
          <a:prstGeom prst="roundRect">
            <a:avLst>
              <a:gd name="adj" fmla="val 8000"/>
            </a:avLst>
          </a:prstGeom>
          <a:noFill/>
          <a:ln w="9000">
            <a:solidFill>
              <a:srgbClr val="035A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050000" y="4363200"/>
            <a:ext cx="3240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6DA7F2"/>
                </a:solidFill>
                <a:latin typeface="Malgun Gothic"/>
                <a:ea typeface="Malgun Gothic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56000" y="4381200"/>
            <a:ext cx="2502000" cy="1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50" b="1" spc="100">
                <a:solidFill>
                  <a:srgbClr val="A0C4F2"/>
                </a:solidFill>
                <a:latin typeface="Malgun Gothic"/>
                <a:ea typeface="Malgun Gothic"/>
              </a:rPr>
              <a:t>DELUXE · 인기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50000" y="4553999"/>
            <a:ext cx="2808000" cy="19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</a:rPr>
              <a:t>인터랙션 페이지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50000" y="4752000"/>
            <a:ext cx="2808000" cy="37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8000"/>
              </a:lnSpc>
            </a:pPr>
            <a:r>
              <a:rPr sz="700" b="0">
                <a:solidFill>
                  <a:srgbClr val="A9C0DE"/>
                </a:solidFill>
                <a:latin typeface="Malgun Gothic"/>
                <a:ea typeface="Malgun Gothic"/>
              </a:rPr>
              <a:t>스크롤 애니메이션과 마이크로 인터랙션, 1~3페이지 구성, 모바일 성능 최적화, 수정 3회 포함.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050000" y="5191200"/>
            <a:ext cx="2808000" cy="7200"/>
          </a:xfrm>
          <a:prstGeom prst="rect">
            <a:avLst/>
          </a:prstGeom>
          <a:solidFill>
            <a:srgbClr val="035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050000" y="5227200"/>
            <a:ext cx="28080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50" b="1">
                <a:solidFill>
                  <a:srgbClr val="A0C4F2"/>
                </a:solidFill>
                <a:latin typeface="Malgun Gothic"/>
                <a:ea typeface="Malgun Gothic"/>
              </a:rPr>
              <a:t>240만원~  /  작업 14일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3999" y="5616000"/>
            <a:ext cx="3204000" cy="126000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ounded Rectangle 38"/>
          <p:cNvSpPr/>
          <p:nvPr/>
        </p:nvSpPr>
        <p:spPr>
          <a:xfrm>
            <a:off x="503999" y="5616000"/>
            <a:ext cx="3204000" cy="1260000"/>
          </a:xfrm>
          <a:prstGeom prst="roundRect">
            <a:avLst>
              <a:gd name="adj" fmla="val 8000"/>
            </a:avLst>
          </a:prstGeom>
          <a:noFill/>
          <a:ln w="9000">
            <a:solidFill>
              <a:srgbClr val="035A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02000" y="5767200"/>
            <a:ext cx="3240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6DA7F2"/>
                </a:solidFill>
                <a:latin typeface="Malgun Gothic"/>
                <a:ea typeface="Malgun Gothic"/>
              </a:rPr>
              <a:t>03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7999" y="5785200"/>
            <a:ext cx="2502000" cy="1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50" b="1" spc="100">
                <a:solidFill>
                  <a:srgbClr val="A0C4F2"/>
                </a:solidFill>
                <a:latin typeface="Malgun Gothic"/>
                <a:ea typeface="Malgun Gothic"/>
              </a:rPr>
              <a:t>PREMIUM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2000" y="5958000"/>
            <a:ext cx="2808000" cy="19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</a:rPr>
              <a:t>기능 웹 서비스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2000" y="6156000"/>
            <a:ext cx="2808000" cy="37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8000"/>
              </a:lnSpc>
            </a:pPr>
            <a:r>
              <a:rPr sz="700" b="0">
                <a:solidFill>
                  <a:srgbClr val="A9C0DE"/>
                </a:solidFill>
                <a:latin typeface="Malgun Gothic"/>
                <a:ea typeface="Malgun Gothic"/>
              </a:rPr>
              <a:t>로그인 · 회원 시스템 · DB 연동 · 관리자 화면. 기능 명세서 기반 확정 견적. 예약 · 커뮤니티 · 사내 도구 등.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02000" y="6595200"/>
            <a:ext cx="2808000" cy="7200"/>
          </a:xfrm>
          <a:prstGeom prst="rect">
            <a:avLst/>
          </a:prstGeom>
          <a:solidFill>
            <a:srgbClr val="035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02000" y="6631199"/>
            <a:ext cx="28080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50" b="1">
                <a:solidFill>
                  <a:srgbClr val="A0C4F2"/>
                </a:solidFill>
                <a:latin typeface="Malgun Gothic"/>
                <a:ea typeface="Malgun Gothic"/>
              </a:rPr>
              <a:t>600만원~  /  기간 협의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852000" y="5616000"/>
            <a:ext cx="3204000" cy="126000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ounded Rectangle 46"/>
          <p:cNvSpPr/>
          <p:nvPr/>
        </p:nvSpPr>
        <p:spPr>
          <a:xfrm>
            <a:off x="3852000" y="5616000"/>
            <a:ext cx="3204000" cy="1260000"/>
          </a:xfrm>
          <a:prstGeom prst="roundRect">
            <a:avLst>
              <a:gd name="adj" fmla="val 8000"/>
            </a:avLst>
          </a:prstGeom>
          <a:noFill/>
          <a:ln w="9000">
            <a:solidFill>
              <a:srgbClr val="035A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4050000" y="5767200"/>
            <a:ext cx="3240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6DA7F2"/>
                </a:solidFill>
                <a:latin typeface="Malgun Gothic"/>
                <a:ea typeface="Malgun Gothic"/>
              </a:rPr>
              <a:t>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56000" y="5785200"/>
            <a:ext cx="2502000" cy="1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50" b="1" spc="100">
                <a:solidFill>
                  <a:srgbClr val="A0C4F2"/>
                </a:solidFill>
                <a:latin typeface="Malgun Gothic"/>
                <a:ea typeface="Malgun Gothic"/>
              </a:rPr>
              <a:t>SERVICE 02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50000" y="5958000"/>
            <a:ext cx="2808000" cy="19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</a:rPr>
              <a:t>기업 AI 도입 진단 &amp; 에이전트 구축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50000" y="6156000"/>
            <a:ext cx="2808000" cy="37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8000"/>
              </a:lnSpc>
            </a:pPr>
            <a:r>
              <a:rPr sz="700" b="0">
                <a:solidFill>
                  <a:srgbClr val="A9C0DE"/>
                </a:solidFill>
                <a:latin typeface="Malgun Gothic"/>
                <a:ea typeface="Malgun Gothic"/>
              </a:rPr>
              <a:t>팀의 업무 흐름을 분해해 AI를 붙일 곳을 먼저 정하고, 사내 문서 기반 검색과 반복 업무 자동화 에이전트를 배치합니다.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050000" y="6595200"/>
            <a:ext cx="2808000" cy="7200"/>
          </a:xfrm>
          <a:prstGeom prst="rect">
            <a:avLst/>
          </a:prstGeom>
          <a:solidFill>
            <a:srgbClr val="035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4050000" y="6631199"/>
            <a:ext cx="28080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50" b="1">
                <a:solidFill>
                  <a:srgbClr val="A0C4F2"/>
                </a:solidFill>
                <a:latin typeface="Malgun Gothic"/>
                <a:ea typeface="Malgun Gothic"/>
              </a:rPr>
              <a:t>진단 리포트 150만원~  ·  구축 300만원~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3999" y="7037999"/>
            <a:ext cx="6552000" cy="7200"/>
          </a:xfrm>
          <a:prstGeom prst="rect">
            <a:avLst/>
          </a:prstGeom>
          <a:solidFill>
            <a:srgbClr val="6DA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503999" y="7091999"/>
            <a:ext cx="4140000" cy="1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Malgun Gothic"/>
                <a:ea typeface="Malgun Gothic"/>
              </a:rPr>
              <a:t>010.5682.6129  ·  spinnavor@naver.com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44000" y="7091999"/>
            <a:ext cx="2412000" cy="1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750" b="1">
                <a:solidFill>
                  <a:srgbClr val="A0C4F2"/>
                </a:solidFill>
                <a:latin typeface="Malgun Gothic"/>
                <a:ea typeface="Malgun Gothic"/>
              </a:rPr>
              <a:t>philip-studio.cloud/it-studio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3999" y="7261199"/>
            <a:ext cx="6552000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550" b="0">
                <a:solidFill>
                  <a:srgbClr val="A9C0DE"/>
                </a:solidFill>
                <a:latin typeface="Malgun Gothic"/>
                <a:ea typeface="Malgun Gothic"/>
              </a:rPr>
              <a:t>설치형 애플리케이션(Electron, Windows / macOS) 1,000만원~ 별도 견적  ·  유지보수 리테이너 월 40만원~. 표기 가격은 기준 시작가이며 범위 확정 후 고정가 견적으로 안내됩니다. 선금 50% · 검수 후 잔금.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756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it_cou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3096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7560000" cy="3096000"/>
          </a:xfrm>
          <a:prstGeom prst="rect">
            <a:avLst/>
          </a:prstGeom>
          <a:solidFill>
            <a:srgbClr val="023373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503999" y="413999"/>
            <a:ext cx="396000" cy="396000"/>
          </a:xfrm>
          <a:prstGeom prst="ellipse">
            <a:avLst/>
          </a:prstGeom>
          <a:noFill/>
          <a:ln w="126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hord 5"/>
          <p:cNvSpPr/>
          <p:nvPr/>
        </p:nvSpPr>
        <p:spPr>
          <a:xfrm>
            <a:off x="559439" y="532800"/>
            <a:ext cx="285120" cy="285120"/>
          </a:xfrm>
          <a:prstGeom prst="chord">
            <a:avLst>
              <a:gd name="adj1" fmla="val 10800000"/>
              <a:gd name="adj2" fmla="val 0"/>
            </a:avLst>
          </a:prstGeom>
          <a:solidFill>
            <a:srgbClr val="6DA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ord 6"/>
          <p:cNvSpPr/>
          <p:nvPr/>
        </p:nvSpPr>
        <p:spPr>
          <a:xfrm>
            <a:off x="606960" y="580320"/>
            <a:ext cx="190080" cy="190080"/>
          </a:xfrm>
          <a:prstGeom prst="chord">
            <a:avLst>
              <a:gd name="adj1" fmla="val 10800000"/>
              <a:gd name="adj2" fmla="val 0"/>
            </a:avLst>
          </a:prstGeom>
          <a:solidFill>
            <a:srgbClr val="A0C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ord 7"/>
          <p:cNvSpPr/>
          <p:nvPr/>
        </p:nvSpPr>
        <p:spPr>
          <a:xfrm>
            <a:off x="654480" y="627839"/>
            <a:ext cx="95040" cy="95040"/>
          </a:xfrm>
          <a:prstGeom prst="chord">
            <a:avLst>
              <a:gd name="adj1" fmla="val 10800000"/>
              <a:gd name="adj2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3599" y="675360"/>
            <a:ext cx="316800" cy="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44000" y="388800"/>
            <a:ext cx="3240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spc="300">
                <a:solidFill>
                  <a:srgbClr val="FFFFFF"/>
                </a:solidFill>
                <a:latin typeface="Malgun Gothic"/>
                <a:ea typeface="Malgun Gothic"/>
              </a:rPr>
              <a:t>PHILIP STUDIO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200" y="604800"/>
            <a:ext cx="3240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50" b="0" spc="150">
                <a:solidFill>
                  <a:srgbClr val="A0C4F2"/>
                </a:solidFill>
                <a:latin typeface="Malgun Gothic"/>
                <a:ea typeface="Malgun Gothic"/>
              </a:rPr>
              <a:t>WEB · APP · AI ENGINEERING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44000" y="432000"/>
            <a:ext cx="1512000" cy="288000"/>
          </a:xfrm>
          <a:prstGeom prst="roundRect">
            <a:avLst>
              <a:gd name="adj" fmla="val 50000"/>
            </a:avLst>
          </a:prstGeom>
          <a:solidFill>
            <a:srgbClr val="6DA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 spc="150">
                <a:solidFill>
                  <a:srgbClr val="023373"/>
                </a:solidFill>
                <a:latin typeface="Malgun Gothic"/>
                <a:ea typeface="Malgun Gothic"/>
              </a:rPr>
              <a:t>교육 · COURSE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3999" y="1206000"/>
            <a:ext cx="6552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1" spc="300">
                <a:solidFill>
                  <a:srgbClr val="A0C4F2"/>
                </a:solidFill>
                <a:latin typeface="Malgun Gothic"/>
                <a:ea typeface="Malgun Gothic"/>
              </a:rPr>
              <a:t>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3999" y="1422000"/>
            <a:ext cx="65520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0" spc="50">
                <a:solidFill>
                  <a:srgbClr val="D7E4F5"/>
                </a:solidFill>
                <a:latin typeface="Malgun Gothic"/>
                <a:ea typeface="Malgun Gothic"/>
              </a:rPr>
              <a:t>AI · IT 강의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3999" y="1710000"/>
            <a:ext cx="6552000" cy="8279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</a:rPr>
              <a:t>대신 만들어 드리는 것이 아니라,</a:t>
            </a:r>
          </a:p>
          <a:p>
            <a:pPr algn="l">
              <a:lnSpc>
                <a:spcPct val="118000"/>
              </a:lnSpc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</a:rPr>
              <a:t>판단의 기준을 옮겨 드립니다.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3999" y="2646000"/>
            <a:ext cx="648000" cy="25200"/>
          </a:xfrm>
          <a:prstGeom prst="rect">
            <a:avLst/>
          </a:prstGeom>
          <a:solidFill>
            <a:srgbClr val="6DA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0" y="3096000"/>
            <a:ext cx="115200" cy="4464000"/>
          </a:xfrm>
          <a:prstGeom prst="rect">
            <a:avLst/>
          </a:prstGeom>
          <a:solidFill>
            <a:srgbClr val="6DA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03999" y="3348000"/>
            <a:ext cx="6552000" cy="61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850" b="0">
                <a:solidFill>
                  <a:srgbClr val="5A6A80"/>
                </a:solidFill>
                <a:latin typeface="Malgun Gothic"/>
                <a:ea typeface="Malgun Gothic"/>
              </a:rPr>
              <a:t>AI · IT 강의는 개발 외주와 분리해 운영하는 별도의 교육 서비스입니다. 도구 사용법이 아니라, 상용 서비스에서 실제로 실패했던 지점을 다룹니다. 1:1 대면 또는 온라인, 회당 2시간. 실적용 직제작 비법노트와 앱 3종 멤버십 제공.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3999" y="3978000"/>
            <a:ext cx="2160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50" b="1" spc="200">
                <a:solidFill>
                  <a:srgbClr val="035AA6"/>
                </a:solidFill>
                <a:latin typeface="Malgun Gothic"/>
                <a:ea typeface="Malgun Gothic"/>
              </a:rPr>
              <a:t>COURSE MENU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55999" y="4046400"/>
            <a:ext cx="5400000" cy="7200"/>
          </a:xfrm>
          <a:prstGeom prst="rect">
            <a:avLst/>
          </a:prstGeom>
          <a:solidFill>
            <a:srgbClr val="DB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503999" y="4212000"/>
            <a:ext cx="3204000" cy="1260000"/>
          </a:xfrm>
          <a:prstGeom prst="roundRect">
            <a:avLst>
              <a:gd name="adj" fmla="val 8000"/>
            </a:avLst>
          </a:prstGeom>
          <a:solidFill>
            <a:srgbClr val="F3F7FD"/>
          </a:solidFill>
          <a:ln w="9000">
            <a:solidFill>
              <a:srgbClr val="DBE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503999" y="4212000"/>
            <a:ext cx="32400" cy="1260000"/>
          </a:xfrm>
          <a:prstGeom prst="roundRect">
            <a:avLst>
              <a:gd name="adj" fmla="val 50000"/>
            </a:avLst>
          </a:prstGeom>
          <a:solidFill>
            <a:srgbClr val="6DA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02000" y="4363200"/>
            <a:ext cx="3240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035AA6"/>
                </a:solidFill>
                <a:latin typeface="Malgun Gothic"/>
                <a:ea typeface="Malgun Gothic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7999" y="4381200"/>
            <a:ext cx="2502000" cy="1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50" b="1" spc="100">
                <a:solidFill>
                  <a:srgbClr val="035AA6"/>
                </a:solidFill>
                <a:latin typeface="Malgun Gothic"/>
                <a:ea typeface="Malgun Gothic"/>
              </a:rPr>
              <a:t>LEVEL 01 · 입문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2000" y="4553999"/>
            <a:ext cx="2808000" cy="19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>
                <a:solidFill>
                  <a:srgbClr val="023373"/>
                </a:solidFill>
                <a:latin typeface="Malgun Gothic"/>
                <a:ea typeface="Malgun Gothic"/>
              </a:rPr>
              <a:t>AI시대, IT 핵심 짚고가기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2000" y="4752000"/>
            <a:ext cx="2808000" cy="37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8000"/>
              </a:lnSpc>
            </a:pPr>
            <a:r>
              <a:rPr sz="700" b="0">
                <a:solidFill>
                  <a:srgbClr val="5A6A80"/>
                </a:solidFill>
                <a:latin typeface="Malgun Gothic"/>
                <a:ea typeface="Malgun Gothic"/>
              </a:rPr>
              <a:t>웹이 돌아가는 원리, 개발자와 일하는 법, 외주 견적을 읽는 법까지. 비전공자 · 창업 준비자를 위한 IT 전체 지도.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2000" y="5191200"/>
            <a:ext cx="2808000" cy="7200"/>
          </a:xfrm>
          <a:prstGeom prst="rect">
            <a:avLst/>
          </a:prstGeom>
          <a:solidFill>
            <a:srgbClr val="DB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02000" y="5227200"/>
            <a:ext cx="28080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50" b="1">
                <a:solidFill>
                  <a:srgbClr val="023373"/>
                </a:solidFill>
                <a:latin typeface="Malgun Gothic"/>
                <a:ea typeface="Malgun Gothic"/>
              </a:rPr>
              <a:t>회당(2h) 15만원  ·  4회 패키지 59만원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52000" y="4212000"/>
            <a:ext cx="3204000" cy="1260000"/>
          </a:xfrm>
          <a:prstGeom prst="roundRect">
            <a:avLst>
              <a:gd name="adj" fmla="val 8000"/>
            </a:avLst>
          </a:prstGeom>
          <a:solidFill>
            <a:srgbClr val="F3F7FD"/>
          </a:solidFill>
          <a:ln w="9000">
            <a:solidFill>
              <a:srgbClr val="DBE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3852000" y="4212000"/>
            <a:ext cx="32400" cy="1260000"/>
          </a:xfrm>
          <a:prstGeom prst="roundRect">
            <a:avLst>
              <a:gd name="adj" fmla="val 50000"/>
            </a:avLst>
          </a:prstGeom>
          <a:solidFill>
            <a:srgbClr val="6DA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050000" y="4363200"/>
            <a:ext cx="3240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035AA6"/>
                </a:solidFill>
                <a:latin typeface="Malgun Gothic"/>
                <a:ea typeface="Malgun Gothic"/>
              </a:rPr>
              <a:t>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56000" y="4381200"/>
            <a:ext cx="2502000" cy="1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50" b="1" spc="100">
                <a:solidFill>
                  <a:srgbClr val="035AA6"/>
                </a:solidFill>
                <a:latin typeface="Malgun Gothic"/>
                <a:ea typeface="Malgun Gothic"/>
              </a:rPr>
              <a:t>LEVEL 02 · 심화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50000" y="4553999"/>
            <a:ext cx="2808000" cy="19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>
                <a:solidFill>
                  <a:srgbClr val="023373"/>
                </a:solidFill>
                <a:latin typeface="Malgun Gothic"/>
                <a:ea typeface="Malgun Gothic"/>
              </a:rPr>
              <a:t>상업수준 운영을 위한 IT Deep Dive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50000" y="4752000"/>
            <a:ext cx="2808000" cy="37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8000"/>
              </a:lnSpc>
            </a:pPr>
            <a:r>
              <a:rPr sz="700" b="0">
                <a:solidFill>
                  <a:srgbClr val="5A6A80"/>
                </a:solidFill>
                <a:latin typeface="Malgun Gothic"/>
                <a:ea typeface="Malgun Gothic"/>
              </a:rPr>
              <a:t>만드는 것과 운영하는 것의 차이. 배포, 장애 대응, 데이터 관리 등 서비스를 운영하게 된 사람을 위한 운영 실무.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50000" y="5191200"/>
            <a:ext cx="2808000" cy="7200"/>
          </a:xfrm>
          <a:prstGeom prst="rect">
            <a:avLst/>
          </a:prstGeom>
          <a:solidFill>
            <a:srgbClr val="DB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4050000" y="5227200"/>
            <a:ext cx="28080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50" b="1">
                <a:solidFill>
                  <a:srgbClr val="023373"/>
                </a:solidFill>
                <a:latin typeface="Malgun Gothic"/>
                <a:ea typeface="Malgun Gothic"/>
              </a:rPr>
              <a:t>회당(2h) 15만원  ·  6회 패키지 85만원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3999" y="5616000"/>
            <a:ext cx="3204000" cy="1260000"/>
          </a:xfrm>
          <a:prstGeom prst="roundRect">
            <a:avLst>
              <a:gd name="adj" fmla="val 8000"/>
            </a:avLst>
          </a:prstGeom>
          <a:solidFill>
            <a:srgbClr val="F3F7FD"/>
          </a:solidFill>
          <a:ln w="9000">
            <a:solidFill>
              <a:srgbClr val="DBE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503999" y="5616000"/>
            <a:ext cx="32400" cy="1260000"/>
          </a:xfrm>
          <a:prstGeom prst="roundRect">
            <a:avLst>
              <a:gd name="adj" fmla="val 50000"/>
            </a:avLst>
          </a:prstGeom>
          <a:solidFill>
            <a:srgbClr val="6DA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02000" y="5767200"/>
            <a:ext cx="3240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035AA6"/>
                </a:solidFill>
                <a:latin typeface="Malgun Gothic"/>
                <a:ea typeface="Malgun Gothic"/>
              </a:rPr>
              <a:t>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7999" y="5785200"/>
            <a:ext cx="2502000" cy="1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50" b="1" spc="100">
                <a:solidFill>
                  <a:srgbClr val="035AA6"/>
                </a:solidFill>
                <a:latin typeface="Malgun Gothic"/>
                <a:ea typeface="Malgun Gothic"/>
              </a:rPr>
              <a:t>LEVEL 03 · 원리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2000" y="5958000"/>
            <a:ext cx="2808000" cy="19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>
                <a:solidFill>
                  <a:srgbClr val="023373"/>
                </a:solidFill>
                <a:latin typeface="Malgun Gothic"/>
                <a:ea typeface="Malgun Gothic"/>
              </a:rPr>
              <a:t>원리부터 파악하는 AI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2000" y="6156000"/>
            <a:ext cx="2808000" cy="37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8000"/>
              </a:lnSpc>
            </a:pPr>
            <a:r>
              <a:rPr sz="700" b="0">
                <a:solidFill>
                  <a:srgbClr val="5A6A80"/>
                </a:solidFill>
                <a:latin typeface="Malgun Gothic"/>
                <a:ea typeface="Malgun Gothic"/>
              </a:rPr>
              <a:t>LLM이 왜 되는지, 어디서 틀리는지. 원리를 알아야 도구가 바뀌어도 기준이 남습니다.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02000" y="6595200"/>
            <a:ext cx="2808000" cy="7200"/>
          </a:xfrm>
          <a:prstGeom prst="rect">
            <a:avLst/>
          </a:prstGeom>
          <a:solidFill>
            <a:srgbClr val="DB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02000" y="6631199"/>
            <a:ext cx="28080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50" b="1">
                <a:solidFill>
                  <a:srgbClr val="023373"/>
                </a:solidFill>
                <a:latin typeface="Malgun Gothic"/>
                <a:ea typeface="Malgun Gothic"/>
              </a:rPr>
              <a:t>회당(2h) 15만원  ·  4회 패키지 59만원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852000" y="5616000"/>
            <a:ext cx="3204000" cy="1260000"/>
          </a:xfrm>
          <a:prstGeom prst="roundRect">
            <a:avLst>
              <a:gd name="adj" fmla="val 8000"/>
            </a:avLst>
          </a:prstGeom>
          <a:solidFill>
            <a:srgbClr val="F3F7FD"/>
          </a:solidFill>
          <a:ln w="9000">
            <a:solidFill>
              <a:srgbClr val="DBE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ounded Rectangle 45"/>
          <p:cNvSpPr/>
          <p:nvPr/>
        </p:nvSpPr>
        <p:spPr>
          <a:xfrm>
            <a:off x="3852000" y="5616000"/>
            <a:ext cx="32400" cy="1260000"/>
          </a:xfrm>
          <a:prstGeom prst="roundRect">
            <a:avLst>
              <a:gd name="adj" fmla="val 50000"/>
            </a:avLst>
          </a:prstGeom>
          <a:solidFill>
            <a:srgbClr val="6DA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4050000" y="5767200"/>
            <a:ext cx="3240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035AA6"/>
                </a:solidFill>
                <a:latin typeface="Malgun Gothic"/>
                <a:ea typeface="Malgun Gothic"/>
              </a:rPr>
              <a:t>04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56000" y="5785200"/>
            <a:ext cx="2502000" cy="1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50" b="1" spc="100">
                <a:solidFill>
                  <a:srgbClr val="035AA6"/>
                </a:solidFill>
                <a:latin typeface="Malgun Gothic"/>
                <a:ea typeface="Malgun Gothic"/>
              </a:rPr>
              <a:t>LEVEL 04 · 실전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50000" y="5958000"/>
            <a:ext cx="2808000" cy="19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>
                <a:solidFill>
                  <a:srgbClr val="023373"/>
                </a:solidFill>
                <a:latin typeface="Malgun Gothic"/>
                <a:ea typeface="Malgun Gothic"/>
              </a:rPr>
              <a:t>당장활용! AI 실전세션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50000" y="6156000"/>
            <a:ext cx="2808000" cy="37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8000"/>
              </a:lnSpc>
            </a:pPr>
            <a:r>
              <a:rPr sz="700" b="0">
                <a:solidFill>
                  <a:srgbClr val="5A6A80"/>
                </a:solidFill>
                <a:latin typeface="Malgun Gothic"/>
                <a:ea typeface="Malgun Gothic"/>
              </a:rPr>
              <a:t>문서 자동화 · 리서치 · 콘텐츠 제작 원포인트 실습. 실제 업무 케이스를 지참하시면 그것으로 진행합니다.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050000" y="6595200"/>
            <a:ext cx="2808000" cy="7200"/>
          </a:xfrm>
          <a:prstGeom prst="rect">
            <a:avLst/>
          </a:prstGeom>
          <a:solidFill>
            <a:srgbClr val="DB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4050000" y="6631199"/>
            <a:ext cx="28080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50" b="1">
                <a:solidFill>
                  <a:srgbClr val="023373"/>
                </a:solidFill>
                <a:latin typeface="Malgun Gothic"/>
                <a:ea typeface="Malgun Gothic"/>
              </a:rPr>
              <a:t>회당(2h) 15만원  ·  그룹(4인 이하) 인당 5만원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3999" y="7037999"/>
            <a:ext cx="6552000" cy="7200"/>
          </a:xfrm>
          <a:prstGeom prst="rect">
            <a:avLst/>
          </a:prstGeom>
          <a:solidFill>
            <a:srgbClr val="DB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503999" y="7091999"/>
            <a:ext cx="4140000" cy="1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50" b="1">
                <a:solidFill>
                  <a:srgbClr val="023373"/>
                </a:solidFill>
                <a:latin typeface="Malgun Gothic"/>
                <a:ea typeface="Malgun Gothic"/>
              </a:rPr>
              <a:t>010.5682.6129  ·  spinnavor@naver.com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44000" y="7091999"/>
            <a:ext cx="2412000" cy="1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750" b="1">
                <a:solidFill>
                  <a:srgbClr val="035AA6"/>
                </a:solidFill>
                <a:latin typeface="Malgun Gothic"/>
                <a:ea typeface="Malgun Gothic"/>
              </a:rPr>
              <a:t>philip-studio.cloud/it-studio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3999" y="7261199"/>
            <a:ext cx="6552000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550" b="0">
                <a:solidFill>
                  <a:srgbClr val="5A6A80"/>
                </a:solidFill>
                <a:latin typeface="Malgun Gothic"/>
                <a:ea typeface="Malgun Gothic"/>
              </a:rPr>
              <a:t>LEVEL 05 · 06 맞춤형 — AI 레벨업 세션(팀 단위 도입 교육), IT 레벨업 세션(개발 입문부터 아키텍처 리뷰까지)은 현재 수준을 진단한 뒤 커리큘럼을 설계해 견적을 드립니다. 기업 출강 시간당 25만원~.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